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6272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26272B"/>
                </a:solidFill>
                <a:latin typeface="Calibri"/>
              </a:rPr>
              <a:t>Revenue Trend by Month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spPr>
            <a:solidFill>
              <a:srgbClr val="FC8019"/>
            </a:solidFill>
            <a:ln w="28575" cap="flat">
              <a:solidFill>
                <a:srgbClr val="FC801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FC8019"/>
              </a:solidFill>
              <a:ln w="9525" cap="flat">
                <a:solidFill>
                  <a:srgbClr val="FC801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Oct'25</c:v>
                  </c:pt>
                  <c:pt idx="1">
                    <c:v>Nov'25</c:v>
                  </c:pt>
                  <c:pt idx="2">
                    <c:v>Dec'25</c:v>
                  </c:pt>
                  <c:pt idx="3">
                    <c:v>Jan'26</c:v>
                  </c:pt>
                  <c:pt idx="4">
                    <c:v>Feb'26</c:v>
                  </c:pt>
                  <c:pt idx="5">
                    <c:v>Mar'26</c:v>
                  </c:pt>
                  <c:pt idx="6">
                    <c:v>Apr'26</c:v>
                  </c:pt>
                  <c:pt idx="7">
                    <c:v>May'26</c:v>
                  </c:pt>
                  <c:pt idx="8">
                    <c:v>Jun'26</c:v>
                  </c:pt>
                  <c:pt idx="9">
                    <c:v>Jul'26</c:v>
                  </c:pt>
                  <c:pt idx="10">
                    <c:v>Aug'26</c:v>
                  </c:pt>
                  <c:pt idx="11">
                    <c:v>Sep'26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223112</c:v>
                </c:pt>
                <c:pt idx="1">
                  <c:v>218209</c:v>
                </c:pt>
                <c:pt idx="2">
                  <c:v>233945</c:v>
                </c:pt>
                <c:pt idx="3">
                  <c:v>215687</c:v>
                </c:pt>
                <c:pt idx="4">
                  <c:v>199078</c:v>
                </c:pt>
                <c:pt idx="5">
                  <c:v>232344</c:v>
                </c:pt>
                <c:pt idx="6">
                  <c:v>230875</c:v>
                </c:pt>
                <c:pt idx="7">
                  <c:v>235201</c:v>
                </c:pt>
                <c:pt idx="8">
                  <c:v>215036</c:v>
                </c:pt>
                <c:pt idx="9">
                  <c:v>218600</c:v>
                </c:pt>
                <c:pt idx="10">
                  <c:v>243537</c:v>
                </c:pt>
                <c:pt idx="11">
                  <c:v>159607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8DA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D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9E9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D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6272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26272B"/>
                </a:solidFill>
                <a:latin typeface="Calibri"/>
              </a:rPr>
              <a:t>Orders by Payment Method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C8019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AA26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6272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F4A65C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FA88C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6C6E73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Net Banking</c:v>
                </c:pt>
                <c:pt idx="1">
                  <c:v>Wallet</c:v>
                </c:pt>
                <c:pt idx="2">
                  <c:v>Cash on Delivery</c:v>
                </c:pt>
                <c:pt idx="3">
                  <c:v>Debit Card</c:v>
                </c:pt>
                <c:pt idx="4">
                  <c:v>Credit Card</c:v>
                </c:pt>
                <c:pt idx="5">
                  <c:v>UPI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1341</c:v>
                </c:pt>
                <c:pt idx="1">
                  <c:v>1377</c:v>
                </c:pt>
                <c:pt idx="2">
                  <c:v>1364</c:v>
                </c:pt>
                <c:pt idx="3">
                  <c:v>1281</c:v>
                </c:pt>
                <c:pt idx="4">
                  <c:v>1301</c:v>
                </c:pt>
                <c:pt idx="5">
                  <c:v>1336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26272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26272B"/>
                </a:solidFill>
                <a:latin typeface="Calibri"/>
              </a:defRPr>
            </a:pPr>
            <a:r>
              <a:rPr sz="1050" b="0" i="0" u="none" strike="noStrike">
                <a:solidFill>
                  <a:srgbClr val="26272B"/>
                </a:solidFill>
                <a:latin typeface="Calibri"/>
              </a:rPr>
              <a:t>Top Restaurants by Revenue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spPr>
            <a:solidFill>
              <a:srgbClr val="FC801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Pizza Corner</c:v>
                  </c:pt>
                  <c:pt idx="1">
                    <c:v>Urban Cafe</c:v>
                  </c:pt>
                  <c:pt idx="2">
                    <c:v>South Hut</c:v>
                  </c:pt>
                  <c:pt idx="3">
                    <c:v>Momo Hub</c:v>
                  </c:pt>
                  <c:pt idx="4">
                    <c:v>Punjabi Palace</c:v>
                  </c:pt>
                  <c:pt idx="5">
                    <c:v>Green Corner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40023</c:v>
                </c:pt>
                <c:pt idx="1">
                  <c:v>40903</c:v>
                </c:pt>
                <c:pt idx="2">
                  <c:v>41203</c:v>
                </c:pt>
                <c:pt idx="3">
                  <c:v>42105</c:v>
                </c:pt>
                <c:pt idx="4">
                  <c:v>42965</c:v>
                </c:pt>
                <c:pt idx="5">
                  <c:v>51498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8D8DA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8D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9E9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8D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26272B"/>
                </a:solidFill>
                <a:latin typeface="Calibri"/>
              </a:defRPr>
            </a:pPr>
            <a:r>
              <a:rPr sz="1050" b="0" i="0" u="none" strike="noStrike">
                <a:solidFill>
                  <a:srgbClr val="26272B"/>
                </a:solidFill>
                <a:latin typeface="Calibri"/>
              </a:rPr>
              <a:t>Order Status by Cuisine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Delivered</c:v>
                </c:pt>
              </c:strCache>
            </c:strRef>
          </c:tx>
          <c:spPr>
            <a:solidFill>
              <a:srgbClr val="1AA2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Bakery</c:v>
                  </c:pt>
                  <c:pt idx="1">
                    <c:v>Street Food</c:v>
                  </c:pt>
                  <c:pt idx="2">
                    <c:v>Biryani</c:v>
                  </c:pt>
                  <c:pt idx="3">
                    <c:v>Continental</c:v>
                  </c:pt>
                  <c:pt idx="4">
                    <c:v>Fast Food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697</c:v>
                </c:pt>
                <c:pt idx="1">
                  <c:v>667</c:v>
                </c:pt>
                <c:pt idx="2">
                  <c:v>514</c:v>
                </c:pt>
                <c:pt idx="3">
                  <c:v>525</c:v>
                </c:pt>
                <c:pt idx="4">
                  <c:v>528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Cancelled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Bakery</c:v>
                  </c:pt>
                  <c:pt idx="1">
                    <c:v>Street Food</c:v>
                  </c:pt>
                  <c:pt idx="2">
                    <c:v>Biryani</c:v>
                  </c:pt>
                  <c:pt idx="3">
                    <c:v>Continental</c:v>
                  </c:pt>
                  <c:pt idx="4">
                    <c:v>Fast Food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178</c:v>
                </c:pt>
                <c:pt idx="1">
                  <c:v>175</c:v>
                </c:pt>
                <c:pt idx="2">
                  <c:v>141</c:v>
                </c:pt>
                <c:pt idx="3">
                  <c:v>133</c:v>
                </c:pt>
                <c:pt idx="4">
                  <c:v>130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Returned</c:v>
                </c:pt>
              </c:strCache>
            </c:strRef>
          </c:tx>
          <c:spPr>
            <a:solidFill>
              <a:srgbClr val="C8C9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Bakery</c:v>
                  </c:pt>
                  <c:pt idx="1">
                    <c:v>Street Food</c:v>
                  </c:pt>
                  <c:pt idx="2">
                    <c:v>Biryani</c:v>
                  </c:pt>
                  <c:pt idx="3">
                    <c:v>Continental</c:v>
                  </c:pt>
                  <c:pt idx="4">
                    <c:v>Fast Food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178</c:v>
                </c:pt>
                <c:pt idx="1">
                  <c:v>171</c:v>
                </c:pt>
                <c:pt idx="2">
                  <c:v>171</c:v>
                </c:pt>
                <c:pt idx="3">
                  <c:v>137</c:v>
                </c:pt>
                <c:pt idx="4">
                  <c:v>119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8DA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8D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9E9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8D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26272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26272B"/>
                </a:solidFill>
                <a:latin typeface="Calibri"/>
              </a:defRPr>
            </a:pPr>
            <a:r>
              <a:rPr sz="1050" b="0" i="0" u="none" strike="noStrike">
                <a:solidFill>
                  <a:srgbClr val="26272B"/>
                </a:solidFill>
                <a:latin typeface="Calibri"/>
              </a:rPr>
              <a:t>Rating vs Avg Order Value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Order Value</c:v>
                </c:pt>
              </c:strCache>
            </c:strRef>
          </c:tx>
          <c:spPr>
            <a:solidFill>
              <a:srgbClr val="FC8019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FC8019"/>
              </a:solidFill>
              <a:ln w="9525" cap="flat">
                <a:solidFill>
                  <a:srgbClr val="FC8019"/>
                </a:solidFill>
                <a:prstDash val="solid"/>
                <a:round/>
              </a:ln>
              <a:effectLst/>
            </c:spPr>
          </c:marker>
          <c:xVal>
            <c:numRef>
              <c:f>Sheet1!$A$2:$A$61</c:f>
              <c:numCache>
                <c:formatCode>General</c:formatCode>
                <c:ptCount val="60"/>
                <c:pt idx="0">
                  <c:v>3.4</c:v>
                </c:pt>
                <c:pt idx="1">
                  <c:v>4.4</c:v>
                </c:pt>
                <c:pt idx="2">
                  <c:v>3.9</c:v>
                </c:pt>
                <c:pt idx="3">
                  <c:v>2.9</c:v>
                </c:pt>
                <c:pt idx="4">
                  <c:v>3.2</c:v>
                </c:pt>
                <c:pt idx="5">
                  <c:v>3.8</c:v>
                </c:pt>
                <c:pt idx="6">
                  <c:v>4.2</c:v>
                </c:pt>
                <c:pt idx="7">
                  <c:v>3.1</c:v>
                </c:pt>
                <c:pt idx="8">
                  <c:v>2.9</c:v>
                </c:pt>
                <c:pt idx="9">
                  <c:v>4.9</c:v>
                </c:pt>
                <c:pt idx="10">
                  <c:v>3.9</c:v>
                </c:pt>
                <c:pt idx="11">
                  <c:v>3</c:v>
                </c:pt>
                <c:pt idx="12">
                  <c:v>3.7</c:v>
                </c:pt>
                <c:pt idx="13">
                  <c:v>3.3</c:v>
                </c:pt>
                <c:pt idx="14">
                  <c:v>3.1</c:v>
                </c:pt>
                <c:pt idx="15">
                  <c:v>4.7</c:v>
                </c:pt>
                <c:pt idx="16">
                  <c:v>4.4</c:v>
                </c:pt>
                <c:pt idx="17">
                  <c:v>4</c:v>
                </c:pt>
                <c:pt idx="18">
                  <c:v>4.5</c:v>
                </c:pt>
                <c:pt idx="19">
                  <c:v>3.8</c:v>
                </c:pt>
                <c:pt idx="20">
                  <c:v>4.4</c:v>
                </c:pt>
                <c:pt idx="21">
                  <c:v>3.2</c:v>
                </c:pt>
                <c:pt idx="22">
                  <c:v>4.7</c:v>
                </c:pt>
                <c:pt idx="23">
                  <c:v>3.6</c:v>
                </c:pt>
                <c:pt idx="24">
                  <c:v>3.7</c:v>
                </c:pt>
                <c:pt idx="25">
                  <c:v>3.1</c:v>
                </c:pt>
                <c:pt idx="26">
                  <c:v>4.5</c:v>
                </c:pt>
                <c:pt idx="27">
                  <c:v>3.6</c:v>
                </c:pt>
                <c:pt idx="28">
                  <c:v>3</c:v>
                </c:pt>
                <c:pt idx="29">
                  <c:v>3</c:v>
                </c:pt>
                <c:pt idx="30">
                  <c:v>4.4</c:v>
                </c:pt>
                <c:pt idx="31">
                  <c:v>3.8</c:v>
                </c:pt>
                <c:pt idx="32">
                  <c:v>4.4</c:v>
                </c:pt>
                <c:pt idx="33">
                  <c:v>4.1</c:v>
                </c:pt>
                <c:pt idx="34">
                  <c:v>3.3</c:v>
                </c:pt>
                <c:pt idx="35">
                  <c:v>4.8</c:v>
                </c:pt>
                <c:pt idx="36">
                  <c:v>3.3</c:v>
                </c:pt>
                <c:pt idx="37">
                  <c:v>3.4</c:v>
                </c:pt>
                <c:pt idx="38">
                  <c:v>3</c:v>
                </c:pt>
                <c:pt idx="39">
                  <c:v>4.8</c:v>
                </c:pt>
                <c:pt idx="40">
                  <c:v>3.2</c:v>
                </c:pt>
                <c:pt idx="41">
                  <c:v>3.4</c:v>
                </c:pt>
                <c:pt idx="42">
                  <c:v>4.4</c:v>
                </c:pt>
                <c:pt idx="43">
                  <c:v>4.3</c:v>
                </c:pt>
                <c:pt idx="44">
                  <c:v>3.6</c:v>
                </c:pt>
                <c:pt idx="45">
                  <c:v>4.6</c:v>
                </c:pt>
                <c:pt idx="46">
                  <c:v>4</c:v>
                </c:pt>
                <c:pt idx="47">
                  <c:v>4.1</c:v>
                </c:pt>
                <c:pt idx="48">
                  <c:v>3.3</c:v>
                </c:pt>
                <c:pt idx="49">
                  <c:v>4.7</c:v>
                </c:pt>
                <c:pt idx="50">
                  <c:v>4.1</c:v>
                </c:pt>
                <c:pt idx="51">
                  <c:v>3.1</c:v>
                </c:pt>
                <c:pt idx="52">
                  <c:v>4</c:v>
                </c:pt>
                <c:pt idx="53">
                  <c:v>4.8</c:v>
                </c:pt>
                <c:pt idx="54">
                  <c:v>3.9</c:v>
                </c:pt>
                <c:pt idx="55">
                  <c:v>3.1</c:v>
                </c:pt>
                <c:pt idx="56">
                  <c:v>4.9</c:v>
                </c:pt>
                <c:pt idx="57">
                  <c:v>4.5</c:v>
                </c:pt>
                <c:pt idx="58">
                  <c:v>3</c:v>
                </c:pt>
                <c:pt idx="59">
                  <c:v>4.4</c:v>
                </c:pt>
              </c:numCache>
            </c:numRef>
          </c:xVal>
          <c:yVal>
            <c:numRef>
              <c:f>Sheet1!$B$2:$B$61</c:f>
              <c:numCache>
                <c:formatCode>General</c:formatCode>
                <c:ptCount val="60"/>
                <c:pt idx="0">
                  <c:v>1016.3</c:v>
                </c:pt>
                <c:pt idx="1">
                  <c:v>889.8</c:v>
                </c:pt>
                <c:pt idx="2">
                  <c:v>1063.8</c:v>
                </c:pt>
                <c:pt idx="3">
                  <c:v>1056.7</c:v>
                </c:pt>
                <c:pt idx="4">
                  <c:v>871</c:v>
                </c:pt>
                <c:pt idx="5">
                  <c:v>895.9</c:v>
                </c:pt>
                <c:pt idx="6">
                  <c:v>1115.1</c:v>
                </c:pt>
                <c:pt idx="7">
                  <c:v>1033.5</c:v>
                </c:pt>
                <c:pt idx="8">
                  <c:v>948.3</c:v>
                </c:pt>
                <c:pt idx="9">
                  <c:v>902.4</c:v>
                </c:pt>
                <c:pt idx="10">
                  <c:v>858.1</c:v>
                </c:pt>
                <c:pt idx="11">
                  <c:v>927.2</c:v>
                </c:pt>
                <c:pt idx="12">
                  <c:v>1038.1</c:v>
                </c:pt>
                <c:pt idx="13">
                  <c:v>1013.8</c:v>
                </c:pt>
                <c:pt idx="14">
                  <c:v>869.3</c:v>
                </c:pt>
                <c:pt idx="15">
                  <c:v>1202.2</c:v>
                </c:pt>
                <c:pt idx="16">
                  <c:v>894.7</c:v>
                </c:pt>
                <c:pt idx="17">
                  <c:v>954.9</c:v>
                </c:pt>
                <c:pt idx="18">
                  <c:v>890</c:v>
                </c:pt>
                <c:pt idx="19">
                  <c:v>1016.9</c:v>
                </c:pt>
                <c:pt idx="20">
                  <c:v>915.1</c:v>
                </c:pt>
                <c:pt idx="21">
                  <c:v>1115.6</c:v>
                </c:pt>
                <c:pt idx="22">
                  <c:v>964.6</c:v>
                </c:pt>
                <c:pt idx="23">
                  <c:v>977.5</c:v>
                </c:pt>
                <c:pt idx="24">
                  <c:v>1007.5</c:v>
                </c:pt>
                <c:pt idx="25">
                  <c:v>820.8</c:v>
                </c:pt>
                <c:pt idx="26">
                  <c:v>832.1</c:v>
                </c:pt>
                <c:pt idx="27">
                  <c:v>908.5</c:v>
                </c:pt>
                <c:pt idx="28">
                  <c:v>928</c:v>
                </c:pt>
                <c:pt idx="29">
                  <c:v>1018.5</c:v>
                </c:pt>
                <c:pt idx="30">
                  <c:v>1268.2</c:v>
                </c:pt>
                <c:pt idx="31">
                  <c:v>893.9</c:v>
                </c:pt>
                <c:pt idx="32">
                  <c:v>855.7</c:v>
                </c:pt>
                <c:pt idx="33">
                  <c:v>927.5</c:v>
                </c:pt>
                <c:pt idx="34">
                  <c:v>843.9</c:v>
                </c:pt>
                <c:pt idx="35">
                  <c:v>985.8</c:v>
                </c:pt>
                <c:pt idx="36">
                  <c:v>961.6</c:v>
                </c:pt>
                <c:pt idx="37">
                  <c:v>979.3</c:v>
                </c:pt>
                <c:pt idx="38">
                  <c:v>908.8</c:v>
                </c:pt>
                <c:pt idx="39">
                  <c:v>971.6</c:v>
                </c:pt>
                <c:pt idx="40">
                  <c:v>812</c:v>
                </c:pt>
                <c:pt idx="41">
                  <c:v>979.2</c:v>
                </c:pt>
                <c:pt idx="42">
                  <c:v>942.9</c:v>
                </c:pt>
                <c:pt idx="43">
                  <c:v>1015</c:v>
                </c:pt>
                <c:pt idx="44">
                  <c:v>1181.3</c:v>
                </c:pt>
                <c:pt idx="45">
                  <c:v>807.6</c:v>
                </c:pt>
                <c:pt idx="46">
                  <c:v>979</c:v>
                </c:pt>
                <c:pt idx="47">
                  <c:v>754</c:v>
                </c:pt>
                <c:pt idx="48">
                  <c:v>917.9</c:v>
                </c:pt>
                <c:pt idx="49">
                  <c:v>882.8</c:v>
                </c:pt>
                <c:pt idx="50">
                  <c:v>1009.5</c:v>
                </c:pt>
                <c:pt idx="51">
                  <c:v>924.5</c:v>
                </c:pt>
                <c:pt idx="52">
                  <c:v>998</c:v>
                </c:pt>
                <c:pt idx="53">
                  <c:v>933.1</c:v>
                </c:pt>
                <c:pt idx="54">
                  <c:v>899</c:v>
                </c:pt>
                <c:pt idx="55">
                  <c:v>977.3</c:v>
                </c:pt>
                <c:pt idx="56">
                  <c:v>754</c:v>
                </c:pt>
                <c:pt idx="57">
                  <c:v>1022.3</c:v>
                </c:pt>
                <c:pt idx="58">
                  <c:v>1051</c:v>
                </c:pt>
                <c:pt idx="59">
                  <c:v>834.9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000000"/>
                    </a:solidFill>
                    <a:latin typeface="Arial"/>
                  </a:rPr>
                  <a:t>Rating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8D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9E9EA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8D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FC801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657600" cy="3657600"/>
          </a:xfrm>
          <a:prstGeom prst="ellipse">
            <a:avLst/>
          </a:prstGeom>
          <a:solidFill>
            <a:srgbClr val="FC8019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DOCUMENTATION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97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Swiggy Order Analytics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C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model, DAX measures, chart specifications and dashboard layout for a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C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swiggy-style order, customer and restaurant dataset.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548640" cy="54864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Anusha Haridas   |   Learning &amp;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4572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12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288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Power BI dashboard on Swiggy-style order data to track revenue, volume and delivery performance.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566928" cy="56692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12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88036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proper star schema linking Orders, Customers and Restaurants for accurate, scalable analysis.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566928" cy="56692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12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9319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trends across cuisine, city, payment method and time to support planning decisions.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566928" cy="56692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5029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</a:t>
            </a:r>
            <a:endParaRPr lang="en-US" sz="1612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983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operational health — delivery time, cancellations and discount impact — in one view.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Order Analytics — Power BI Dashboard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DATA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Information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4572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connected CSV tables form the data model, joined through customer and restaurant keys.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502152" cy="3794760"/>
          </a:xfrm>
          <a:prstGeom prst="roundRect">
            <a:avLst>
              <a:gd name="adj" fmla="val 2089"/>
            </a:avLst>
          </a:prstGeom>
          <a:solidFill>
            <a:srgbClr val="F4F4F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57400"/>
            <a:ext cx="3502152" cy="50292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05740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2491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9923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8,000 rows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7472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749040"/>
            <a:ext cx="30449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OrderID, CustomerID, RestaurantID, OrderDate, OrderTime, DeliveryTimeMin, ItemsCount, OrderValue, DiscountAmount, DeliveryFee, PaymentMethod, OrderStatus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25112" y="2057400"/>
            <a:ext cx="3502152" cy="3794760"/>
          </a:xfrm>
          <a:prstGeom prst="roundRect">
            <a:avLst>
              <a:gd name="adj" fmla="val 2089"/>
            </a:avLst>
          </a:prstGeom>
          <a:solidFill>
            <a:srgbClr val="F4F4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325112" y="2057400"/>
            <a:ext cx="3502152" cy="502920"/>
          </a:xfrm>
          <a:prstGeom prst="rect">
            <a:avLst/>
          </a:prstGeom>
          <a:solidFill>
            <a:srgbClr val="1AA26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25112" y="205740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53712" y="272491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A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53712" y="299923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rows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553712" y="347472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53712" y="3749040"/>
            <a:ext cx="30449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CustomerID, CustomerName, Gender, Age, City, SignupDate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01584" y="2057400"/>
            <a:ext cx="3502152" cy="3794760"/>
          </a:xfrm>
          <a:prstGeom prst="roundRect">
            <a:avLst>
              <a:gd name="adj" fmla="val 2089"/>
            </a:avLst>
          </a:prstGeom>
          <a:solidFill>
            <a:srgbClr val="F4F4F5"/>
          </a:solidFill>
          <a:ln/>
        </p:spPr>
      </p:sp>
      <p:sp>
        <p:nvSpPr>
          <p:cNvPr id="21" name="Shape 19"/>
          <p:cNvSpPr/>
          <p:nvPr/>
        </p:nvSpPr>
        <p:spPr>
          <a:xfrm>
            <a:off x="8101584" y="2057400"/>
            <a:ext cx="3502152" cy="502920"/>
          </a:xfrm>
          <a:prstGeom prst="rect">
            <a:avLst/>
          </a:prstGeom>
          <a:solidFill>
            <a:srgbClr val="2627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01584" y="205740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330184" y="272491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330184" y="299923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 rows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8330184" y="347472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330184" y="3749040"/>
            <a:ext cx="30449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RestaurantID, RestaurantName, City, Cuisine, Rating, CostForTwo, FoodType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035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 Orders[CustomerID] → Customers[CustomerID]   ·   Orders[RestaurantID] → Restaurants[RestaurantID]   (one-to-many)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Order Analytics — Power BI Dashboard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POWER QUERY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4572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AA2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91109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OrderID rows in the Orders 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AA26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063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0837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correct data types: OrderDate → Date, OrderValue/DiscountAmount/DeliveryFee → Decimal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AA26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10565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and clean text fields — CustomerName, RestaurantName, City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257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AA26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5257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520293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City spelling/casing across all three tables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19659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AA2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191109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blanks in DeliveryTimeMin and Rating using averages or null-aware measures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0632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AA26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3063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00837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out OrderValue ≤ 0 as invalid transactions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41605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AA26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0936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410565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OrderDate + OrderTime into a single DateTime column for time-based analysis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5257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AA26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09360" y="5257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520293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keys — every CustomerID / RestaurantID in Orders exists in its dimension table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Order Analytics — Power BI Dashboard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DATA MODELING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Calculated Columns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4572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82296" cy="128016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8928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Orders[OrderValue] - Orders[DiscountAmount] + Orders[DeliveryFee]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83080"/>
            <a:ext cx="82296" cy="128016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8928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Month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28600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FORMAT(Orders[OrderDate], "MMM YYYY")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91840"/>
            <a:ext cx="82296" cy="128016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40156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Speed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79476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IF(Orders[DeliveryTimeMin] &lt;= 30, "Fast", "Slow")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329184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291840"/>
            <a:ext cx="82296" cy="128016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7960" y="340156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%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79476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DIVIDE(Orders[DiscountAmount], Orders[OrderValue], 0)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800600"/>
            <a:ext cx="82296" cy="128016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91032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30352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SWITCH(TRUE(), Customers[Age] &lt; 25, "18-24", Customers[Age] &lt; 35, "25-34", Customers[Age] &lt; 45, "35-44", "45+")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480060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4800600"/>
            <a:ext cx="82296" cy="128016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37960" y="491032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Type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530352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IF(WEEKDAY(Orders[OrderDate], 2) &gt; 5, "Weekend", "Weekday")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Order Analytics — Power BI Dashboard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DATA MODELING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4572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2627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783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Formula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64240" cy="4572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2402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SUM(Orders[Net Revenue])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6974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COUNTROWS(Orders)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11064240" cy="4572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154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154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DIVIDE([Total Revenue],[Total Orders])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6118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AVERAGE(Orders[DeliveryTimeMin])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11064240" cy="4572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4069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DIVIDE(CALCULATE(COUNTROWS(Orders), Orders[OrderStatus]="Cancelled"),[Total Orders])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526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LM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5262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CALCULATE([Total Revenue], DATEADD('Date'[Date], -1, MONTH))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983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Revenue Growth %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49834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DIVIDE([Total Revenue] - [Revenue LM],[Revenue LM])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440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Restaurants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440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DISTINCTCOUNT(Orders[RestaurantID])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897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58978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CALCULATE(DISTINCTCOUNT(Orders[CustomerID]), Orders[OrderCount] &gt; 1)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282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LM and MoM Growth require a dedicated Date table marked as a Date Table in the model.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Order Analytics — Power BI Dashboard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VISUALS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Specifications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4572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FC801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8288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Total Orders, Avg Order Value, Cancellation Rate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1AA26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8716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48716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by Order Month — revenue trend over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FC801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4553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3145536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Restaurants by Net Revenue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03904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2627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803904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3803904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share by Payment Method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462272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1AA2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4622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/ BAR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4462272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order count by City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D6454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120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651760" y="51206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split by Cuisine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779008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FC801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577900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651760" y="577900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Rating vs Avg Order Value, sized by order count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Order Analytics — Power BI Dashboard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Layout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4572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1920240" cy="4434840"/>
          </a:xfrm>
          <a:prstGeom prst="roundRect">
            <a:avLst>
              <a:gd name="adj" fmla="val 2857"/>
            </a:avLst>
          </a:prstGeom>
          <a:solidFill>
            <a:srgbClr val="2627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2331720"/>
            <a:ext cx="1645920" cy="18288"/>
          </a:xfrm>
          <a:prstGeom prst="rect">
            <a:avLst/>
          </a:prstGeom>
          <a:solidFill>
            <a:srgbClr val="4546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3108960"/>
            <a:ext cx="1645920" cy="18288"/>
          </a:xfrm>
          <a:prstGeom prst="rect">
            <a:avLst/>
          </a:prstGeom>
          <a:solidFill>
            <a:srgbClr val="4546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931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886200"/>
            <a:ext cx="1645920" cy="18288"/>
          </a:xfrm>
          <a:prstGeom prst="rect">
            <a:avLst/>
          </a:prstGeom>
          <a:solidFill>
            <a:srgbClr val="4546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709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4663440"/>
            <a:ext cx="1645920" cy="18288"/>
          </a:xfrm>
          <a:prstGeom prst="rect">
            <a:avLst/>
          </a:prstGeom>
          <a:solidFill>
            <a:srgbClr val="4546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5486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5440680"/>
            <a:ext cx="1645920" cy="18288"/>
          </a:xfrm>
          <a:prstGeom prst="rect">
            <a:avLst/>
          </a:prstGeom>
          <a:solidFill>
            <a:srgbClr val="45464B"/>
          </a:solidFill>
          <a:ln/>
        </p:spPr>
      </p:sp>
      <p:sp>
        <p:nvSpPr>
          <p:cNvPr id="17" name="Shape 15"/>
          <p:cNvSpPr/>
          <p:nvPr/>
        </p:nvSpPr>
        <p:spPr>
          <a:xfrm>
            <a:off x="2651760" y="1828800"/>
            <a:ext cx="2034540" cy="777240"/>
          </a:xfrm>
          <a:prstGeom prst="roundRect">
            <a:avLst>
              <a:gd name="adj" fmla="val 7059"/>
            </a:avLst>
          </a:prstGeom>
          <a:solidFill>
            <a:srgbClr val="FC801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788920" y="192024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788920" y="2176272"/>
            <a:ext cx="1760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₹73.0L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960620" y="1828800"/>
            <a:ext cx="2034540" cy="777240"/>
          </a:xfrm>
          <a:prstGeom prst="roundRect">
            <a:avLst>
              <a:gd name="adj" fmla="val 7059"/>
            </a:avLst>
          </a:prstGeom>
          <a:solidFill>
            <a:srgbClr val="FC801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97780" y="192024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097780" y="2176272"/>
            <a:ext cx="1760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8,000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7269480" y="1828800"/>
            <a:ext cx="2034540" cy="777240"/>
          </a:xfrm>
          <a:prstGeom prst="roundRect">
            <a:avLst>
              <a:gd name="adj" fmla="val 7059"/>
            </a:avLst>
          </a:prstGeom>
          <a:solidFill>
            <a:srgbClr val="FC801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06640" y="192024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2176272"/>
            <a:ext cx="1760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₹912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9578340" y="1828800"/>
            <a:ext cx="2034540" cy="777240"/>
          </a:xfrm>
          <a:prstGeom prst="roundRect">
            <a:avLst>
              <a:gd name="adj" fmla="val 7059"/>
            </a:avLst>
          </a:prstGeom>
          <a:solidFill>
            <a:srgbClr val="FC801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715500" y="192024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%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715500" y="2176272"/>
            <a:ext cx="1760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17.0%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2651760" y="2788920"/>
            <a:ext cx="5555894" cy="1783080"/>
          </a:xfrm>
          <a:prstGeom prst="roundRect">
            <a:avLst>
              <a:gd name="adj" fmla="val 3077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graphicFrame>
        <p:nvGraphicFramePr>
          <p:cNvPr id="30" name="Chart 0" descr=""/>
          <p:cNvGraphicFramePr/>
          <p:nvPr/>
        </p:nvGraphicFramePr>
        <p:xfrm>
          <a:off x="2651760" y="2788920"/>
          <a:ext cx="5555894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Shape 28"/>
          <p:cNvSpPr/>
          <p:nvPr/>
        </p:nvSpPr>
        <p:spPr>
          <a:xfrm>
            <a:off x="8481974" y="2788920"/>
            <a:ext cx="3130906" cy="1783080"/>
          </a:xfrm>
          <a:prstGeom prst="roundRect">
            <a:avLst>
              <a:gd name="adj" fmla="val 3077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graphicFrame>
        <p:nvGraphicFramePr>
          <p:cNvPr id="32" name="Chart 1" descr=""/>
          <p:cNvGraphicFramePr/>
          <p:nvPr/>
        </p:nvGraphicFramePr>
        <p:xfrm>
          <a:off x="8481974" y="2788920"/>
          <a:ext cx="3130906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3" name="Shape 29"/>
          <p:cNvSpPr/>
          <p:nvPr/>
        </p:nvSpPr>
        <p:spPr>
          <a:xfrm>
            <a:off x="2651760" y="4846320"/>
            <a:ext cx="2804160" cy="1417320"/>
          </a:xfrm>
          <a:prstGeom prst="roundRect">
            <a:avLst>
              <a:gd name="adj" fmla="val 3871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graphicFrame>
        <p:nvGraphicFramePr>
          <p:cNvPr id="34" name="Chart 2" descr=""/>
          <p:cNvGraphicFramePr/>
          <p:nvPr/>
        </p:nvGraphicFramePr>
        <p:xfrm>
          <a:off x="2651760" y="4846320"/>
          <a:ext cx="28041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5" name="Shape 30"/>
          <p:cNvSpPr/>
          <p:nvPr/>
        </p:nvSpPr>
        <p:spPr>
          <a:xfrm>
            <a:off x="5730240" y="4846320"/>
            <a:ext cx="2804160" cy="1417320"/>
          </a:xfrm>
          <a:prstGeom prst="roundRect">
            <a:avLst>
              <a:gd name="adj" fmla="val 3871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graphicFrame>
        <p:nvGraphicFramePr>
          <p:cNvPr id="36" name="Chart 3" descr=""/>
          <p:cNvGraphicFramePr/>
          <p:nvPr/>
        </p:nvGraphicFramePr>
        <p:xfrm>
          <a:off x="5730240" y="4846320"/>
          <a:ext cx="28041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7" name="Shape 31"/>
          <p:cNvSpPr/>
          <p:nvPr/>
        </p:nvSpPr>
        <p:spPr>
          <a:xfrm>
            <a:off x="8808720" y="4846320"/>
            <a:ext cx="2804160" cy="1417320"/>
          </a:xfrm>
          <a:prstGeom prst="roundRect">
            <a:avLst>
              <a:gd name="adj" fmla="val 3871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graphicFrame>
        <p:nvGraphicFramePr>
          <p:cNvPr id="38" name="Chart 4" descr=""/>
          <p:cNvGraphicFramePr/>
          <p:nvPr/>
        </p:nvGraphicFramePr>
        <p:xfrm>
          <a:off x="8808720" y="4846320"/>
          <a:ext cx="28041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9" name="Text 3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Order Analytics — Power BI Dashboard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 the Dashboard Enables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4572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029968"/>
            <a:ext cx="502920" cy="502920"/>
          </a:xfrm>
          <a:prstGeom prst="ellipse">
            <a:avLst/>
          </a:prstGeom>
          <a:solidFill>
            <a:srgbClr val="1AA26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43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ordering hours &amp; days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3317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demand windows to plan staffing and delivery-partner allocation.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64808" y="2029968"/>
            <a:ext cx="502920" cy="502920"/>
          </a:xfrm>
          <a:prstGeom prst="ellipse">
            <a:avLst/>
          </a:prstGeom>
          <a:solidFill>
            <a:srgbClr val="1AA26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64808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cuisines &amp; restaurants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3317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revenue-driving cuisines and partners worth promoting.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3675888"/>
            <a:ext cx="502920" cy="502920"/>
          </a:xfrm>
          <a:prstGeom prst="ellipse">
            <a:avLst/>
          </a:prstGeom>
          <a:solidFill>
            <a:srgbClr val="1AA26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</a:t>
            </a:r>
            <a:endParaRPr lang="en-US" sz="143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611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 performance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9776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revenue and order volume across cities to guide expansion.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34747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464808" y="3675888"/>
            <a:ext cx="502920" cy="502920"/>
          </a:xfrm>
          <a:prstGeom prst="ellipse">
            <a:avLst/>
          </a:prstGeom>
          <a:solidFill>
            <a:srgbClr val="1AA2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64808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143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611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effectiveness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39776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discount % relates to order value and repeat ordering.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" y="5321808"/>
            <a:ext cx="502920" cy="502920"/>
          </a:xfrm>
          <a:prstGeom prst="ellipse">
            <a:avLst/>
          </a:prstGeom>
          <a:solidFill>
            <a:srgbClr val="1AA26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143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5257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drivers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56235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restaurants or cities with high cancellation rates for action.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51206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</p:spPr>
      </p:sp>
      <p:sp>
        <p:nvSpPr>
          <p:cNvPr id="31" name="Shape 29"/>
          <p:cNvSpPr/>
          <p:nvPr/>
        </p:nvSpPr>
        <p:spPr>
          <a:xfrm>
            <a:off x="6464808" y="5321808"/>
            <a:ext cx="502920" cy="502920"/>
          </a:xfrm>
          <a:prstGeom prst="ellipse">
            <a:avLst/>
          </a:prstGeom>
          <a:solidFill>
            <a:srgbClr val="1AA26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64808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43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5257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56235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ordering patterns by age group and city for targeting.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Order Analytics — Power BI Dashboard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2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FC8019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a decision-ready dashboard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64792"/>
            <a:ext cx="109728" cy="10972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61848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3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model: Orders (fact, 8,000 rows) linked to Customers and Restaurants dimensions.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450592"/>
            <a:ext cx="109728" cy="10972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30428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3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 with correct types, standardized text, merged date-time, and validated keys.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3136392"/>
            <a:ext cx="109728" cy="10972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99008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3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(Net Revenue, Delivery Speed, Age Group) enrich the model for slicing.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3822192"/>
            <a:ext cx="109728" cy="10972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367588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3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DAX measures cover revenue, order volume, delivery speed and cancellation rate.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507992"/>
            <a:ext cx="109728" cy="10972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36168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3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combines KPI cards, trend line, donut, bar and scatter visuals with city/cuisine/date filters.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" y="5193792"/>
            <a:ext cx="109728" cy="10972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504748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3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insights on demand patterns, top performers, discount impact and cancellation drivers.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172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2026-09-28T10:18:21Z</dcterms:created>
  <dcterms:modified xsi:type="dcterms:W3CDTF">2026-09-28T10:18:21Z</dcterms:modified>
</cp:coreProperties>
</file>